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83" r:id="rId6"/>
    <p:sldId id="284" r:id="rId7"/>
    <p:sldId id="285" r:id="rId8"/>
    <p:sldId id="286" r:id="rId9"/>
    <p:sldId id="291" r:id="rId10"/>
    <p:sldId id="302" r:id="rId11"/>
    <p:sldId id="266" r:id="rId12"/>
    <p:sldId id="287" r:id="rId13"/>
    <p:sldId id="292" r:id="rId14"/>
    <p:sldId id="293" r:id="rId15"/>
    <p:sldId id="294" r:id="rId16"/>
    <p:sldId id="295" r:id="rId17"/>
    <p:sldId id="296" r:id="rId18"/>
    <p:sldId id="265" r:id="rId19"/>
    <p:sldId id="274" r:id="rId20"/>
    <p:sldId id="297" r:id="rId21"/>
    <p:sldId id="298" r:id="rId22"/>
    <p:sldId id="299" r:id="rId23"/>
    <p:sldId id="300" r:id="rId24"/>
    <p:sldId id="301" r:id="rId25"/>
    <p:sldId id="280" r:id="rId26"/>
    <p:sldId id="281" r:id="rId27"/>
    <p:sldId id="282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5009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DF78-3D5C-A4BF-D18C-57ADC1BC3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668CF8-512A-D341-0AD6-D8855569F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05A32-CE2D-D934-4411-5ED3069B8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6180E-5726-31A1-31F8-B6F072B4A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193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94FBD-A81D-F91B-D1B4-254C744C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5EBB2-E431-C5AD-D0A8-F48131B91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874F01-935D-E2E8-9424-4ED2185C3C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69479-9F03-264D-449E-0CA6265E84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0893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B7604-EC6D-9B07-E7CF-13E8D1C74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FBEBE-2A09-ACBF-2F35-9CC6CA272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A5976-7F0A-B8A4-A612-11ED5BAF2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92F35-BF94-65CF-F450-CA0057155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86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17742-AC4C-747C-B767-2DE042A75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776DBB-B452-94BE-10E9-096AB0C8F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A4C08-DFE8-4581-E4C3-EF8855C9C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61670-3A97-871A-2233-0B4A5ADFB9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9311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4212E-A98A-CFF1-7AFC-276BBEC77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B3EE9C-0C17-8B1D-24E0-FB6F52C17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57BCD-7269-A7D5-8094-58FF3FDC2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FA60B-9CD3-391D-ADA1-04EB55F6D6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4211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8FAF-E134-3F8F-997A-1A07B3477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75FCC-7540-5AF4-9ACC-D52FF49E7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4D550-D871-DAF7-D454-BF4AB8E33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5359FC-C715-D92E-1BF6-9D3DA1E232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654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4FD6-2F83-18B8-A7EC-7F0B2BD7C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B54A1-6FBA-B7C0-BAE1-33D9F733E2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78270-28F6-3617-3624-47CD0C6B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C18911-3741-B12C-4397-1F15BE57A5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96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5FA72-37EA-250D-0634-6AB60F45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10E06-4DD5-F187-0BFC-EF462BB14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E1B212-D67F-30A0-7C21-92A12417D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B9EEA0-3DB1-C781-86FA-11EDDE569B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9343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BFB91-EA6B-C94C-79BB-660BE630A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3D2CB1-E4AF-6626-0C2F-0173F59F3C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16033E-3F5D-CA75-9D48-D79289E5A3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43B4B0-4AFA-785F-E0BC-5345AFE22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0423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D08E9-7584-E327-BD3A-0DBCAF1C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7FF92B-7ED5-8F3D-7A96-A5A7A8039B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F8715A-AB20-2918-41D5-1D4A805F7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93FD4-E29D-ED80-70EE-D550118A0B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75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C3102-8AD8-71C1-7A0C-3679929D2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78F9A-E939-6BAF-815B-E74D9E19A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F412E-9C63-0496-B371-D7720131B7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C9225-3D54-1CFD-3CAF-90C3001934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682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E3C8-F7C2-7CED-1E5F-2AB475EE4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85D35-A6CC-D324-F545-E696586DB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AE0E15-1D6F-3D84-8A65-EB7C899D84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7F686C-6CFF-504C-CC7A-44BD37BEB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00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004D9-2BB0-8F12-6152-3300FB5F8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197F2F-3C3E-2629-BF18-75FC54F13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D2CB55-3455-40C4-A31C-010367C11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B5E9E-3988-92E7-506A-3BA77C2820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090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C16AB-1233-B095-9258-BFB929FC2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7F38D-1DB0-31D3-7624-FD5FAE6AC8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DEC50-692D-9BAB-1AAE-69B00F7974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09891-2E03-C28E-91BE-641A6078F8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6247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50D51-2043-D7C1-B520-87B5ABC70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5195D-72B8-A420-7DAD-BE413238AD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3B46A-FB68-3AE5-043D-EBD78F58B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B5A20-1DB8-6C9A-A209-CE44047E4E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606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47C28-DEA8-B580-CED1-36CC88947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409953-AE6A-2FB7-6699-6DB782C708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EFEBB-3CA5-F7B4-03DA-1895424E1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51049-50C1-89CC-8A0C-A8012080C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968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0"/>
            <a:ext cx="8759952" cy="73152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1887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Restaurant Order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E293B"/>
                </a:solidFill>
              </a:rPr>
              <a:t>Data Analysis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D7FB8"/>
                </a:solidFill>
              </a:rPr>
              <a:t>SQL Questions &amp; Answers — Objectives 1, 2 &amp; 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MySQL | Data Analysis | Restaurant Orders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0" y="2926080"/>
            <a:ext cx="2011680" cy="2011680"/>
          </a:xfrm>
          <a:prstGeom prst="ellipse">
            <a:avLst/>
          </a:prstGeom>
          <a:solidFill>
            <a:srgbClr val="1D7FB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560320"/>
            <a:ext cx="2926080" cy="2926080"/>
          </a:xfrm>
          <a:prstGeom prst="ellipse">
            <a:avLst/>
          </a:prstGeom>
          <a:solidFill>
            <a:srgbClr val="E05A1B">
              <a:alpha val="8000"/>
            </a:srgbClr>
          </a:solidFill>
          <a:ln/>
        </p:spPr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chemeClr val="bg2">
              <a:lumMod val="2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37360"/>
            <a:ext cx="9144000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>
                    <a:lumMod val="25000"/>
                  </a:schemeClr>
                </a:solidFill>
              </a:rPr>
              <a:t>OBJECTIVE 1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Explore the Menu Items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Understand pricing, categories, and dish counts using the menu_items table.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Q1.1</a:t>
            </a:r>
            <a:endParaRPr lang="en-US" sz="1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360EE3-6339-24AB-1EC0-7F95A022E79F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6" name="Shape 4"/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</p:sp>
        <p:sp>
          <p:nvSpPr>
            <p:cNvPr id="7" name="Text 5"/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US" sz="135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View the menu_items table</a:t>
              </a:r>
              <a:endParaRPr lang="en-US" sz="135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  <p:sp>
        <p:nvSpPr>
          <p:cNvPr id="8" name="Text 6"/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ea typeface="Courier New" pitchFamily="34" charset="-122"/>
                <a:cs typeface="Segoe UI" panose="020B0502040204020203" pitchFamily="34" charset="0"/>
              </a:rPr>
              <a:t>SELECT *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ea typeface="Courier New" pitchFamily="34" charset="-122"/>
                <a:cs typeface="Segoe UI" panose="020B0502040204020203" pitchFamily="34" charset="0"/>
              </a:rPr>
              <a:t>FROM menu_items;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💡 Returns all columns: menu_item_id, item_name, category, price.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Q1.2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💡 COUNT(*) counts every row regardless of NULLs — returns total menu size.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909CB46-5B73-7668-BAD5-76C278D606BE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EC639D3-7218-921F-76CE-93940842B2A3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count(*) 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endParaRPr lang="en-US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BDA8A2-FFD6-9159-F744-D255D8808EA7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F5BC95F4-C18E-F064-6BD3-3A1FB1C3CDF7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9B7D1FB8-9C25-712F-C0D2-1D894A57F024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Q.2. Find the number of items on the menu</a:t>
              </a:r>
              <a:endParaRPr lang="en-IN" sz="1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0B6A63-89EA-5E14-5CE2-B3AEC4274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1167431-1E36-124E-26C5-20E7EF666E1A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D96DD3B-3E41-6B79-26A6-F5F68CEB3C79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12F1B17-EBB0-580C-A6F7-FFF3F81853A0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Q1.2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7AC4D75-D030-8057-7F71-61CD1EB07692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3404B13-83EE-74E2-89E2-C17E09F01303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6738D29-87D9-E4D4-3BF6-EBC054E3DDB3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1B6F670-28D0-6251-511B-571E1865AE27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💡Two approaches: aggregate for quick stats, ORDER BY for full ranked list..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EF8E09A-83BA-01C1-453F-826A523F67F4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AD29AD6F-3435-E9C3-4140-B6C535259975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max(price) as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mx_items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min(price)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mn_items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--OR</a:t>
            </a:r>
          </a:p>
          <a:p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*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price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asc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0AFEF5A-C8B6-AC35-0FDB-BBE7B8A64AB5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284E9A39-1294-70EC-5C21-AA08E7337729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38BF9561-F791-5190-6765-6072B637A1EE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Q.3. What is the list and most expensive items on the menu</a:t>
              </a:r>
              <a:endParaRPr lang="en-IN" sz="1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6942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755C99-2B72-DD00-9948-62CC14AA2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58F42A-6520-6757-C794-ECBD0D0A2BD0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DDB19F5-1A5A-419E-D5CC-4871CB514FFE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CC20210-30D5-96D1-B20C-35F932323E03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Q1.2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01D6CE9-FEED-5E5A-32A7-65F506A2A4A3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59777A9-FAB5-E6D3-AC60-C323589A295C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FF75D60-B3AB-B3A2-DA97-63B256361E45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FA6EEEE-540F-1472-25CF-968526AF4A7E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WHERE filters rows before counting — only Italian dishes are counted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801C142-BE01-17CB-8A62-4CF337B1CCD3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E964BE1-F295-0EC9-90A1-5DFF4063A2CF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1"/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count(category) as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max_italian_dishes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 category = 'Italian'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59A04C-2D9F-E908-4B59-595F56A5DEA6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B767B771-7FF8-FDB1-708F-794FAC43AAC8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5CB1ADBC-84D7-4408-D74B-DE42B82FB3F6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</a:t>
              </a:r>
              <a:r>
                <a:rPr lang="en-US" sz="1400" b="1" dirty="0">
                  <a:solidFill>
                    <a:srgbClr val="1E293B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Q.4. How many Italian dishes are on the menu?</a:t>
              </a:r>
              <a:endParaRPr lang="en-IN" sz="1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979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4FD47-0D55-6644-5482-82C735F1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603FBD-BA27-868F-CD27-8E2ACEB9A215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E2A3AB-10EB-BA47-AFB7-555FEBF1D625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CDB68E-5C5F-E8D1-5993-860CE3051681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Q1.2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1D8116A-A695-ABD9-38FA-AEFF1B58CDD7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D950E3D-430B-E60D-55A9-7E6FFA967621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7AE782-FB12-5D04-D605-11A312B84E69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F6B2F1D-3DCC-35CC-EF9D-AD0BFFD30A7A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Combine WHERE + ORDER BY to filter by category and rank by price.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CF1D75A-2643-31E5-CD34-4B0B9117C2A2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8F509EE-08A8-28A1-9DCC-418F335EAD49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*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 category = 'Italian'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price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--(most expensive)</a:t>
            </a:r>
          </a:p>
          <a:p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*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 category = 'Italian'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price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asc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 --(lest expensive)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sz="1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9254414-D7D5-D116-DACF-A23BEB3B4576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14B6AB6F-7FE3-7499-4715-8303E4E2F8C1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F794C64B-0259-D671-ECF9-58A645C596C2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Q.5. What is the least and most expensive Italian dishes on the menu?</a:t>
              </a:r>
              <a:endParaRPr lang="en-IN" sz="1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7418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32EC9-5C32-9C0E-CA4A-A995FE22E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B419C5-7B36-123E-DC2C-6632BAD2BA06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4BE343-C249-9582-3C30-E0A5D94290EC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00F5928-51D8-5333-A880-9C6F39497CA9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Q1.2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2FE484-78D1-C17D-5F0D-B47ABD56CF15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B4C965C-95B8-999C-BECC-C645C8142448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7A9C9D0-0E83-98B4-3599-004BD884B84B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CE8E826-B0CA-5FAE-0733-4742D889D866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GROUP BY collapses rows into one per category; COUNT tallies each group.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268C410-EF95-784D-384D-8E282E1F59C0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064A95A-E183-5113-57FF-CA99C5DB6AC4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pPr lvl="1"/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category, </a:t>
            </a:r>
          </a:p>
          <a:p>
            <a:pPr lvl="1"/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count(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num_dishes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category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DDDD81-9051-4651-AE0C-DA8C28492358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C14500EE-473A-9D7E-446E-EEA8D5354AAC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029A1A24-C688-D97B-4F57-4A6BE4A69CB9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400" b="1" dirty="0">
                  <a:solidFill>
                    <a:srgbClr val="1E293B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❓ 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Q.6. How many dishes are in each category</a:t>
              </a:r>
              <a:endParaRPr lang="en-IN" sz="1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371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D042F1-61CA-6D97-8C8F-3BE411C10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09CB162-9C3D-E24E-B7BE-10273585D3D7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8F3611-0AF3-AFDE-9A00-BE6D378728B1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02F5465-D54C-6985-0BCB-D480C71CAC7F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Q1.2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68C6BE-0741-6512-D6A2-4C327D2630D0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E54CE66-3CFF-AF92-62A3-BE27CD3341F2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B28AF1D-6543-3C9D-E576-7E4AEB09F48A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17A072-1B26-3ABC-DAC7-CED9FBEACAD0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AVG() ignores NULLs automatically. Italian has the highest average price.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BED0368-53B5-D7CA-9D1D-2EF2156F2986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B1365CC-5589-F1CB-A8DC-97EDE05EB722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pPr lvl="1"/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category, </a:t>
            </a:r>
          </a:p>
          <a:p>
            <a:pPr lvl="1"/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avg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(price) as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avg_dish_price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category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F09F52A-EF3D-A986-4120-E344C59AA0BB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433F6221-80F9-BA29-1793-E694D1405F66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201F8C22-03E3-3290-ACB5-89F92D415185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Q.7. What is average price of each category</a:t>
              </a:r>
              <a:endParaRPr lang="en-IN" sz="1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912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118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FB8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583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</a:rPr>
              <a:t>Menu Analysis — Key Takeaways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146304" cy="640080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4447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32 total items across 4 categories: American, Asian, Mexican, Italian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03120"/>
            <a:ext cx="146304" cy="640080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17627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Italian dishes command the highest average price (~$16.75)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34640"/>
            <a:ext cx="146304" cy="640080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90779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Price range spans from the cheapest item (~$5) up to $19.95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566160"/>
            <a:ext cx="146304" cy="640080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63931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Each category contributes roughly equally to menu depth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737360"/>
            <a:ext cx="9144000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>
                    <a:lumMod val="25000"/>
                  </a:schemeClr>
                </a:solidFill>
              </a:rPr>
              <a:t>OBJECTIVE 2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Explore the Order Details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Analyze order volume, date range, and item counts using order_details.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60DB1-693D-8FEC-194F-034DC6A1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CD701C-696A-8998-B4FD-A469606B539A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4FEF43-37D1-F431-9A26-B09B658A8CE8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602042-ABCA-DCB2-359C-C1B7CF2F784D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Q2.1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9EDFCCF-F2EE-D308-215B-507251DE67C4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41683A-8965-D8A2-4AFF-8AE2E89F6AA8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C08DC82-B4EF-8DFB-9E1C-5AA0943EA184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67ADB0C-13AE-03E9-19F3-E78BBAFC32D6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Returns: </a:t>
            </a:r>
            <a:r>
              <a:rPr lang="en-US" sz="1150" dirty="0" err="1">
                <a:solidFill>
                  <a:srgbClr val="166534"/>
                </a:solidFill>
              </a:rPr>
              <a:t>order_details_id</a:t>
            </a:r>
            <a:r>
              <a:rPr lang="en-US" sz="1150" dirty="0">
                <a:solidFill>
                  <a:srgbClr val="166534"/>
                </a:solidFill>
              </a:rPr>
              <a:t>, </a:t>
            </a:r>
            <a:r>
              <a:rPr lang="en-US" sz="1150" dirty="0" err="1">
                <a:solidFill>
                  <a:srgbClr val="166534"/>
                </a:solidFill>
              </a:rPr>
              <a:t>order_id</a:t>
            </a:r>
            <a:r>
              <a:rPr lang="en-US" sz="1150" dirty="0">
                <a:solidFill>
                  <a:srgbClr val="166534"/>
                </a:solidFill>
              </a:rPr>
              <a:t>, </a:t>
            </a:r>
            <a:r>
              <a:rPr lang="en-US" sz="1150" dirty="0" err="1">
                <a:solidFill>
                  <a:srgbClr val="166534"/>
                </a:solidFill>
              </a:rPr>
              <a:t>order_date</a:t>
            </a:r>
            <a:r>
              <a:rPr lang="en-US" sz="1150" dirty="0">
                <a:solidFill>
                  <a:srgbClr val="166534"/>
                </a:solidFill>
              </a:rPr>
              <a:t>, </a:t>
            </a:r>
            <a:r>
              <a:rPr lang="en-US" sz="1150" dirty="0" err="1">
                <a:solidFill>
                  <a:srgbClr val="166534"/>
                </a:solidFill>
              </a:rPr>
              <a:t>order_time</a:t>
            </a:r>
            <a:r>
              <a:rPr lang="en-US" sz="1150" dirty="0">
                <a:solidFill>
                  <a:srgbClr val="166534"/>
                </a:solidFill>
              </a:rPr>
              <a:t>, </a:t>
            </a:r>
            <a:r>
              <a:rPr lang="en-US" sz="1150" dirty="0" err="1">
                <a:solidFill>
                  <a:srgbClr val="166534"/>
                </a:solidFill>
              </a:rPr>
              <a:t>item_id</a:t>
            </a:r>
            <a:r>
              <a:rPr lang="en-US" sz="1150" dirty="0">
                <a:solidFill>
                  <a:srgbClr val="166534"/>
                </a:solidFill>
              </a:rPr>
              <a:t>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2471585-8ABE-C49E-CDA6-CBD2336FE5C0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0E02E6C-78F5-2CC5-14B5-96A7DBBDE1ED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* 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details_table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5860150-8C53-03F1-7D5A-F12378074C43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601603A1-DB29-ABED-1767-8CD515BF9ACF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4EB521C9-FAC4-0C26-8592-1EC49E410B54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b="1" dirty="0"/>
                <a:t> </a:t>
              </a:r>
              <a:r>
                <a:rPr lang="en-GB" sz="1600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Q.1. View the </a:t>
              </a:r>
              <a:r>
                <a:rPr lang="en-GB" sz="1600" dirty="0" err="1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order_details</a:t>
              </a:r>
              <a:r>
                <a:rPr lang="en-GB" sz="1600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table</a:t>
              </a:r>
              <a:endParaRPr lang="en-IN" sz="16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801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FA60-5DB7-93B6-C662-C9505B76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00D9A26-16BD-83C2-00CE-0C8F8BB83F44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1178E4E-9804-0F0F-31CD-58128742CEC2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D14585-58F3-3397-D816-75C3C7FB7E97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Q2.2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BFF567-FF3B-D585-20C3-1087AC44893D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AEAE801-FCE9-A8FA-D836-6816FFABAA68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971D449-141E-5242-6258-527BD861FE13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466929D-2FED-5748-37F3-3A25FC021A11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MIN / MAX on a DATE column returns the first and last order dates in the dataset.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AD95A39-3F52-F2C6-232D-7EEA763B6EED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5F79BCA-B773-37C2-C3D3-99239DC11EF1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* 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order_date</a:t>
            </a:r>
            <a:endParaRPr lang="en-GB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--OR</a:t>
            </a:r>
          </a:p>
          <a:p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min(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order_date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max(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order_date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4E3032-6AA3-9BB4-775B-F344CFA36B13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49C1F7DA-0296-1F4E-1B2D-3BAF32249874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C6592DED-FE8B-BDB8-2E79-DE17ECE48DFE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b="1" dirty="0"/>
                <a:t> 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Q.2.What is the date range of the table </a:t>
              </a:r>
              <a:endParaRPr lang="en-IN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rgbClr val="00B0F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9997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FBB0F-9A34-F0CF-494D-DE9A6BDCF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864CAA6-26A7-7B88-16BC-5D2909BF93A4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925FE5-A04D-737E-4948-9478E78046DC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8B100B-DBFC-8BB9-82D3-5D3F8F9538B6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Q2.3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1F0F7D-1CE0-3690-40EC-5F1C7A540A9D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9A8921-E2CF-6D1F-2CE1-EBA9CE68CB83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E3596F1-47B9-7B2C-59C3-9CF04AE8BD16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DE780A3-C57B-95AA-31AA-03E74BC3C2C2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DISTINCT is critical — without it you count line items, not unique orders.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547EA4B-CDC6-E4E7-9DE7-C10BCDB8BDDD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CEEAC1E-028E-F5EC-9101-C679B4292799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count(distinct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5A14252-25BE-183E-DB64-517638CF5B60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0915F42A-F4D8-B088-A092-D9FD3EFFB8AE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CF0FDB83-B6E0-B5E7-F221-4963C4355A07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b="1" dirty="0"/>
                <a:t> </a:t>
              </a:r>
              <a:r>
                <a:rPr lang="en-GB" sz="16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Q.3. How many order were made within this order range </a:t>
              </a:r>
              <a:endParaRPr lang="en-IN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0440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9AAC-4475-282A-D68A-6EC5626C5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B7F3374-6E49-DFA4-C6E6-F1D8F9E3E036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CE13210-4357-8D52-3E27-58FC12E670F0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1564FA-2700-4C61-F12B-304C4E9EC7CB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Q2.4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D4A88A0-882D-FFC0-3371-CB2530482228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B811A40-DDAA-1DF8-9D03-267DAAEDBF60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C7A278B-E5BE-9AFB-B0AA-5669E2AD9984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20C20EC-5DE4-0608-CB4E-EDDDDE8202E0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No DISTINCT here — each row is one item, so every row is counted.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960CB1B-94B9-ABD1-C25C-8AB60E27D27A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E76F4007-F30B-903E-6AD7-6225AB415C83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count(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--count(*) 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2BCBFD9-9811-4F1B-490F-59AA1BF6C551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3D89C16E-CBC8-4B4F-8459-43CA07FB5E32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CC81DA66-16EF-9C8E-DECC-927D8BAF17A1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b="1" dirty="0"/>
                <a:t> </a:t>
              </a:r>
              <a:r>
                <a:rPr lang="en-GB" sz="16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Q.4.</a:t>
              </a:r>
              <a:r>
                <a:rPr lang="en-GB" sz="1600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lang="en-GB" sz="16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How many items were ordered within this order range</a:t>
              </a:r>
              <a:endParaRPr lang="en-IN" sz="16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4532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A48A0-CCB7-3447-108C-4771085F1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B7F74F8-71E3-568B-8A9D-BDFF8018D36F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505E6E-A55E-688D-FE6A-4614E1CE1468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ABAB64A-2D33-9E3D-5CE4-7FB5607F5BBD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Q2.5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086DD7-AD7E-C30E-C015-A9C7E6205D83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D37A539-66E5-A966-58D2-F321C58C5721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0E7CEB9-E4DB-B279-5899-FCF14C9F6E93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71E521A-133D-6723-D6D7-70C6B29CF2C1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GROUP BY </a:t>
            </a:r>
            <a:r>
              <a:rPr lang="en-US" sz="1150" dirty="0" err="1">
                <a:solidFill>
                  <a:srgbClr val="166534"/>
                </a:solidFill>
              </a:rPr>
              <a:t>order_id</a:t>
            </a:r>
            <a:r>
              <a:rPr lang="en-US" sz="1150" dirty="0">
                <a:solidFill>
                  <a:srgbClr val="166534"/>
                </a:solidFill>
              </a:rPr>
              <a:t> + ORDER BY DESC surfaces the order with the most line items at the top.</a:t>
            </a:r>
            <a:endParaRPr lang="en-US" sz="1150" dirty="0"/>
          </a:p>
          <a:p>
            <a:r>
              <a:rPr lang="en-US" sz="1150" dirty="0">
                <a:solidFill>
                  <a:srgbClr val="166534"/>
                </a:solidFill>
              </a:rPr>
              <a:t>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C13D9E8C-B5B8-704E-FE39-26621D45048A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FCC7E0F8-89F3-8339-9992-DBA6871C771F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</a:t>
            </a:r>
          </a:p>
          <a:p>
            <a:pPr lvl="1"/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</a:p>
          <a:p>
            <a:pPr lvl="1"/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count(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item_id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num_items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FDB7492-10FB-9A06-D16F-80174E0249A4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0E39E50F-D5FC-5782-722F-DD63DC489CF8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A1B1B7F9-382D-BDCF-1483-66A346BCA2F1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sz="16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 Q.5. Which order had the most number of </a:t>
              </a:r>
              <a:r>
                <a:rPr lang="en-GB" sz="1600" b="1" dirty="0" err="1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itmes</a:t>
              </a:r>
              <a:endParaRPr lang="en-IN" sz="16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8955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6AA66-C140-B215-90AC-7F7BB638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01DE4A0-4042-87B4-6672-94975E0A7ECD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F79D11-CDF2-3DDF-EE02-D8587BEA248C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7D2430-DD0A-C0CB-CA8D-A7AFA8EDDC3D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Q2.6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7558C1-68D5-EF44-DA27-83C4482AB0B8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BB31E79-AD30-6416-ACDA-03D1FF60B638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0BFD3C3-2F0E-594C-E89C-509CD0A27540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382E20F-D916-AC33-744C-65CB37A6A168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rgbClr val="166534"/>
                </a:solidFill>
              </a:rPr>
              <a:t>💡 Subquery first groups and filters (HAVING &gt; 12), outer COUNT tallies those orders.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E9E697A4-44A9-2248-B3A6-404B32E79191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B43A323-4357-423F-386A-C1E71C4754B7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count(*) as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total_order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from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	(select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count(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item_id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having  count(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item_id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&gt; 12)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num_orders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533843-71B2-D001-18BB-6A1590CB63A5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F7244D96-8B6F-7719-A0E4-58C2F516F563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0C941ABF-47CE-3085-30EC-BAF37882B55B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b="1" dirty="0"/>
                <a:t> </a:t>
              </a:r>
              <a:r>
                <a:rPr lang="en-GB" sz="16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Q.6. How many orders had more than 12 items</a:t>
              </a:r>
              <a:endParaRPr lang="en-IN" sz="16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9391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118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FB8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583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</a:rPr>
              <a:t>Menu Analysis — Key Takeaways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146304" cy="640080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4447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32 total items across 4 categories: American, Asian, Mexican, Italian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03120"/>
            <a:ext cx="146304" cy="640080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17627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Italian dishes command the highest average price (~$16.75)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34640"/>
            <a:ext cx="146304" cy="640080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90779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Price range spans from the cheapest item (~$5) up to $19.95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566160"/>
            <a:ext cx="146304" cy="640080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63931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Each category contributes roughly equally to menu depth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18900000" scaled="1"/>
            <a:tileRect/>
          </a:gradFill>
          <a:ln/>
        </p:spPr>
      </p:sp>
      <p:sp>
        <p:nvSpPr>
          <p:cNvPr id="3" name="Shape 1"/>
          <p:cNvSpPr/>
          <p:nvPr/>
        </p:nvSpPr>
        <p:spPr>
          <a:xfrm>
            <a:off x="0" y="1737360"/>
            <a:ext cx="9144000" cy="173736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2">
                    <a:lumMod val="25000"/>
                  </a:schemeClr>
                </a:solidFill>
              </a:rPr>
              <a:t>OBJECTIVE 3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Analyze Customer Behavior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75569"/>
                </a:solidFill>
              </a:rPr>
              <a:t>Join tables to reveal what customers order and how much they spend.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A4687-90DC-0BCC-5ED6-F285EDE4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2C2C1A4-0CF4-0FAC-1568-F3EEC834A3ED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776C9EE-88D2-B185-E047-F89D1F583FB8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ED82E54-760D-D64A-CD3B-49C516D40AA8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Q3.1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920C31-5C22-157E-4D09-DC5AC97B2F4B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4C521D-88E2-B790-4DC1-F4996B339A52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542FF7B-61B3-64EE-11D3-67DE60F6AD7C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08AFE6F-53C1-EA12-C5C7-B2C24DF6F623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💡 COUNT(*) counts every row regardless of NULLs — returns total menu size.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2C31C53-1D69-1E32-6202-65102D2A65C6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AB65940-D2BF-3150-AD2E-75BAE8603099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*</a:t>
            </a:r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od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left join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od.item_id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mi.menu_item_id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4678B42-5474-3637-7DAA-051368DE50D0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57F9CDE9-11CF-4391-9793-D5470E317D0A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4C68BB40-F70E-288F-81AC-835EA0AFD75D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b="1" dirty="0"/>
                <a:t> </a:t>
              </a:r>
              <a:r>
                <a:rPr lang="en-GB" sz="16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Q.1.Combine the </a:t>
              </a:r>
              <a:r>
                <a:rPr lang="en-GB" sz="1600" b="1" dirty="0" err="1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menu_item</a:t>
              </a:r>
              <a:r>
                <a:rPr lang="en-GB" sz="16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and order details table into single table</a:t>
              </a:r>
              <a:endParaRPr lang="en-IN" sz="16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9176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7C161-B4AF-53CB-1510-A6DB36B98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1F979E7-C261-0DA7-9DBF-B6678C1811FD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C733AED-69C4-709D-F22D-B3C80289924D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6215B5-BF92-4543-295D-39047BAD05BB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Q3.2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074BDF0-08BD-6E11-4D49-546CB8A3B48C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1F4CF16-66D7-510A-D3CD-34D872665168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0E0A3C0-1019-1893-0BC3-B20D2192674B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8A98417-A988-FE30-5392-834A913077FF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💡 COUNT(*) counts every row regardless of NULLs — returns total menu size.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A4387BF-8320-7979-3CCE-050C541E4576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B49D756-D59A-490F-0F2A-BCBCEE76CF32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</a:rPr>
              <a:t>select </a:t>
            </a:r>
          </a:p>
          <a:p>
            <a:pPr lvl="1"/>
            <a:r>
              <a:rPr lang="en-GB" sz="1400" dirty="0" err="1">
                <a:solidFill>
                  <a:schemeClr val="bg1"/>
                </a:solidFill>
              </a:rPr>
              <a:t>item_name</a:t>
            </a:r>
            <a:r>
              <a:rPr lang="en-GB" sz="1400" dirty="0">
                <a:solidFill>
                  <a:schemeClr val="bg1"/>
                </a:solidFill>
              </a:rPr>
              <a:t>, </a:t>
            </a:r>
          </a:p>
          <a:p>
            <a:pPr lvl="1"/>
            <a:r>
              <a:rPr lang="en-GB" sz="1400" dirty="0">
                <a:solidFill>
                  <a:schemeClr val="bg1"/>
                </a:solidFill>
              </a:rPr>
              <a:t>category, </a:t>
            </a:r>
          </a:p>
          <a:p>
            <a:pPr lvl="1"/>
            <a:r>
              <a:rPr lang="en-GB" sz="1400" dirty="0">
                <a:solidFill>
                  <a:schemeClr val="bg1"/>
                </a:solidFill>
              </a:rPr>
              <a:t>count(</a:t>
            </a:r>
            <a:r>
              <a:rPr lang="en-GB" sz="1400" dirty="0" err="1">
                <a:solidFill>
                  <a:schemeClr val="bg1"/>
                </a:solidFill>
              </a:rPr>
              <a:t>order_details_id</a:t>
            </a:r>
            <a:r>
              <a:rPr lang="en-GB" sz="1400" dirty="0">
                <a:solidFill>
                  <a:schemeClr val="bg1"/>
                </a:solidFill>
              </a:rPr>
              <a:t>) as </a:t>
            </a:r>
            <a:r>
              <a:rPr lang="en-GB" sz="1400" dirty="0" err="1">
                <a:solidFill>
                  <a:schemeClr val="bg1"/>
                </a:solidFill>
              </a:rPr>
              <a:t>num_purchases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GB" sz="1400" dirty="0">
                <a:solidFill>
                  <a:schemeClr val="bg1"/>
                </a:solidFill>
              </a:rPr>
              <a:t>from </a:t>
            </a:r>
            <a:r>
              <a:rPr lang="en-GB" sz="1400" dirty="0" err="1">
                <a:solidFill>
                  <a:schemeClr val="bg1"/>
                </a:solidFill>
              </a:rPr>
              <a:t>order_details</a:t>
            </a:r>
            <a:r>
              <a:rPr lang="en-GB" sz="1400" dirty="0">
                <a:solidFill>
                  <a:schemeClr val="bg1"/>
                </a:solidFill>
              </a:rPr>
              <a:t> od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GB" sz="1400" dirty="0">
                <a:solidFill>
                  <a:schemeClr val="bg1"/>
                </a:solidFill>
              </a:rPr>
              <a:t>left join </a:t>
            </a:r>
            <a:r>
              <a:rPr lang="en-GB" sz="1400" dirty="0" err="1">
                <a:solidFill>
                  <a:schemeClr val="bg1"/>
                </a:solidFill>
              </a:rPr>
              <a:t>menu_items</a:t>
            </a:r>
            <a:r>
              <a:rPr lang="en-GB" sz="1400" dirty="0">
                <a:solidFill>
                  <a:schemeClr val="bg1"/>
                </a:solidFill>
              </a:rPr>
              <a:t> mi 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GB" sz="1400" dirty="0">
                <a:solidFill>
                  <a:schemeClr val="bg1"/>
                </a:solidFill>
              </a:rPr>
              <a:t>on </a:t>
            </a:r>
            <a:r>
              <a:rPr lang="en-GB" sz="1400" dirty="0" err="1">
                <a:solidFill>
                  <a:schemeClr val="bg1"/>
                </a:solidFill>
              </a:rPr>
              <a:t>od.item_id</a:t>
            </a:r>
            <a:r>
              <a:rPr lang="en-GB" sz="1400" dirty="0">
                <a:solidFill>
                  <a:schemeClr val="bg1"/>
                </a:solidFill>
              </a:rPr>
              <a:t> = </a:t>
            </a:r>
            <a:r>
              <a:rPr lang="en-GB" sz="1400" dirty="0" err="1">
                <a:solidFill>
                  <a:schemeClr val="bg1"/>
                </a:solidFill>
              </a:rPr>
              <a:t>mi.menu_item_id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GB" sz="1400" dirty="0">
                <a:solidFill>
                  <a:schemeClr val="bg1"/>
                </a:solidFill>
              </a:rPr>
              <a:t>group by </a:t>
            </a:r>
            <a:r>
              <a:rPr lang="en-GB" sz="1400" dirty="0" err="1">
                <a:solidFill>
                  <a:schemeClr val="bg1"/>
                </a:solidFill>
              </a:rPr>
              <a:t>item_name</a:t>
            </a:r>
            <a:r>
              <a:rPr lang="en-GB" sz="1400" dirty="0">
                <a:solidFill>
                  <a:schemeClr val="bg1"/>
                </a:solidFill>
              </a:rPr>
              <a:t>, category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GB" sz="1400" dirty="0">
                <a:solidFill>
                  <a:schemeClr val="bg1"/>
                </a:solidFill>
              </a:rPr>
              <a:t>order by </a:t>
            </a:r>
            <a:r>
              <a:rPr lang="en-GB" sz="1400" dirty="0" err="1">
                <a:solidFill>
                  <a:schemeClr val="bg1"/>
                </a:solidFill>
              </a:rPr>
              <a:t>num_purchases</a:t>
            </a:r>
            <a:r>
              <a:rPr lang="en-GB" sz="1400" dirty="0">
                <a:solidFill>
                  <a:schemeClr val="bg1"/>
                </a:solidFill>
              </a:rPr>
              <a:t> </a:t>
            </a:r>
            <a:r>
              <a:rPr lang="en-GB" sz="1400" dirty="0" err="1">
                <a:solidFill>
                  <a:schemeClr val="bg1"/>
                </a:solidFill>
              </a:rPr>
              <a:t>desc</a:t>
            </a:r>
            <a:r>
              <a:rPr lang="en-GB" sz="1400" dirty="0">
                <a:solidFill>
                  <a:schemeClr val="bg1"/>
                </a:solidFill>
              </a:rPr>
              <a:t> --most ordered</a:t>
            </a:r>
            <a:endParaRPr lang="en-IN" sz="1400" dirty="0">
              <a:solidFill>
                <a:schemeClr val="bg1"/>
              </a:solidFill>
            </a:endParaRPr>
          </a:p>
          <a:p>
            <a:r>
              <a:rPr lang="en-GB" sz="1400" dirty="0">
                <a:solidFill>
                  <a:schemeClr val="bg1"/>
                </a:solidFill>
              </a:rPr>
              <a:t>--order by </a:t>
            </a:r>
            <a:r>
              <a:rPr lang="en-GB" sz="1400" dirty="0" err="1">
                <a:solidFill>
                  <a:schemeClr val="bg1"/>
                </a:solidFill>
              </a:rPr>
              <a:t>num_purchases</a:t>
            </a:r>
            <a:r>
              <a:rPr lang="en-GB" sz="1400" dirty="0">
                <a:solidFill>
                  <a:schemeClr val="bg1"/>
                </a:solidFill>
              </a:rPr>
              <a:t>  --list ordered</a:t>
            </a:r>
            <a:endParaRPr lang="en-IN" sz="1400" dirty="0">
              <a:solidFill>
                <a:schemeClr val="bg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E29C9AF-CF33-DFE1-3833-498B5958450D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A7D54A2F-ED57-FE6D-DC88-FDD652891A26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78C53262-3189-AB27-DA1C-00B7644618A1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</a:t>
              </a:r>
              <a:r>
                <a:rPr lang="en-US" sz="105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 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 Q.2. What were the least and most ordered items? What category were they in?</a:t>
              </a:r>
              <a:endParaRPr lang="en-IN" sz="1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3243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B0A52-E175-0CE5-335E-62CE1583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31719F8-6FE5-B997-B8A1-12B351A7301E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F53B3A3-E60C-FF33-1300-6269E5CF570A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DF2F0C6-7BA7-94CF-3549-C00A347BA6ED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Q3.3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80002A-FB9A-1ACC-206C-F63BB527C4E8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D1226FF-C155-AF23-2682-883BE59E5B99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2388F95-407B-3E4F-BC4A-E0C236134153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11F3EA4-7537-3772-95F6-2B1C5FBF3E2F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💡 COUNT(*) counts every row regardless of NULLs — returns total menu size.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2D84AAE6-C580-AF89-19F8-8D40A0755E15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AB9F722-E432-B0E9-7C67-F1833E9440A3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pPr>
              <a:lnSpc>
                <a:spcPts val="1480"/>
              </a:lnSpc>
            </a:pP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sum(price) as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total_spend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480"/>
              </a:lnSpc>
            </a:pP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od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480"/>
              </a:lnSpc>
            </a:pP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left join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480"/>
              </a:lnSpc>
            </a:pP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od.item_id</a:t>
            </a: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mi.menu_item_id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480"/>
              </a:lnSpc>
            </a:pP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480"/>
              </a:lnSpc>
            </a:pP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--having sum(price) is not null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480"/>
              </a:lnSpc>
            </a:pP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total_spend</a:t>
            </a: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r>
              <a:rPr lang="en-GB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limit 5</a:t>
            </a:r>
            <a:endParaRPr lang="en-IN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B34F77D-6F45-DB42-E742-A0E811EAEDAE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73867DE1-D415-07CF-B951-214543DB8BFB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E492572A-EB03-3612-E5EC-AAE2D6108DAE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b="1" dirty="0"/>
                <a:t> 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Q.3. What were the top 5 orders that spent the most money?</a:t>
              </a:r>
              <a:endParaRPr lang="en-IN" sz="1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35955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3C326-79D5-4A94-8742-2EA1249E2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526E4D-67E8-7952-38C8-B79CA4C5F677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9ACE01E-CDC9-1C3D-7DD3-34A257B6B981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E9128CF-D7E8-A027-4489-005C31710DA5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Q3.4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3A55231-70D9-5189-53CF-43269E159F38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E016DA-FE20-40A0-0860-440B118FB77F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2401A0A-6A34-67F6-51D5-DA4E8B232F93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C3EDD23-5AB5-5227-5090-0ED7EE507FF9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💡 COUNT(*) counts every row regardless of NULLs — returns total menu size.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7BCE591-F759-FA20-8E2A-37EB74BA7F72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365736D8-FF47-22DE-6D3D-74077E92F40D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pPr>
              <a:lnSpc>
                <a:spcPts val="168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</a:p>
          <a:p>
            <a:pPr lvl="1">
              <a:lnSpc>
                <a:spcPts val="168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category, </a:t>
            </a:r>
          </a:p>
          <a:p>
            <a:pPr lvl="1">
              <a:lnSpc>
                <a:spcPts val="168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count(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item_id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68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od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68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left join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68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od.item_id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mi.menu_item_id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68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440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168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category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BD4D3A-33D0-0A21-FE4B-54488C521555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35C3A754-8318-D04C-B220-69EA65EBAFB5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C04D6854-BF42-EC6A-0717-BF191EAA0937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sz="14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Q.4. View the details of highest spend order. What insights can you the gather From the results?</a:t>
              </a:r>
              <a:endParaRPr lang="en-IN" sz="14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6832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116DA-7859-EEEC-F7E2-5B6EF342B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87E1F8-BC69-E716-6DD4-60D3BE21E67D}"/>
              </a:ext>
            </a:extLst>
          </p:cNvPr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E304841-4BFD-7295-CFDE-D292A1A4280C}"/>
              </a:ext>
            </a:extLst>
          </p:cNvPr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A98875-BB02-01F1-2618-4CF9A922F462}"/>
              </a:ext>
            </a:extLst>
          </p:cNvPr>
          <p:cNvSpPr txBox="1"/>
          <p:nvPr/>
        </p:nvSpPr>
        <p:spPr>
          <a:xfrm>
            <a:off x="182880" y="73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1B"/>
                </a:solidFill>
              </a:rPr>
              <a:t>Q3.5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BEC1D8-7904-AA3C-C6E9-9409151542FC}"/>
              </a:ext>
            </a:extLst>
          </p:cNvPr>
          <p:cNvSpPr txBox="1"/>
          <p:nvPr/>
        </p:nvSpPr>
        <p:spPr>
          <a:xfrm>
            <a:off x="868680" y="91440"/>
            <a:ext cx="365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SQL Query &amp; Answer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DEC971-ABDC-C0BC-7AA5-EEC066EABAE3}"/>
              </a:ext>
            </a:extLst>
          </p:cNvPr>
          <p:cNvSpPr txBox="1"/>
          <p:nvPr/>
        </p:nvSpPr>
        <p:spPr>
          <a:xfrm>
            <a:off x="320040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7FB8"/>
                </a:solidFill>
              </a:rPr>
              <a:t>SQL</a:t>
            </a:r>
            <a:endParaRPr lang="en-US" sz="1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5862B9A-8D51-5168-5DD0-3267D38F78F6}"/>
              </a:ext>
            </a:extLst>
          </p:cNvPr>
          <p:cNvSpPr/>
          <p:nvPr/>
        </p:nvSpPr>
        <p:spPr>
          <a:xfrm>
            <a:off x="320040" y="4233672"/>
            <a:ext cx="850392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FB057A5-09A9-2527-F73A-529602718139}"/>
              </a:ext>
            </a:extLst>
          </p:cNvPr>
          <p:cNvSpPr txBox="1"/>
          <p:nvPr/>
        </p:nvSpPr>
        <p:spPr>
          <a:xfrm>
            <a:off x="457200" y="42611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6534"/>
                </a:solidFill>
              </a:rPr>
              <a:t>💡 COUNT(*) counts every row regardless of NULLs — returns total menu size.</a:t>
            </a:r>
            <a:endParaRPr lang="en-US" sz="11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8489C943-714A-1B2A-0D81-D32080E4AD8E}"/>
              </a:ext>
            </a:extLst>
          </p:cNvPr>
          <p:cNvSpPr/>
          <p:nvPr/>
        </p:nvSpPr>
        <p:spPr>
          <a:xfrm>
            <a:off x="320040" y="1664208"/>
            <a:ext cx="8503920" cy="2468880"/>
          </a:xfrm>
          <a:prstGeom prst="rect">
            <a:avLst/>
          </a:prstGeom>
          <a:solidFill>
            <a:schemeClr val="bg2">
              <a:lumMod val="25000"/>
            </a:schemeClr>
          </a:solidFill>
          <a:ln w="10160">
            <a:noFill/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62CB613-044F-2379-9A66-0D6635662C33}"/>
              </a:ext>
            </a:extLst>
          </p:cNvPr>
          <p:cNvSpPr txBox="1"/>
          <p:nvPr/>
        </p:nvSpPr>
        <p:spPr>
          <a:xfrm>
            <a:off x="475488" y="1737360"/>
            <a:ext cx="8229600" cy="232257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/>
        </p:spPr>
        <p:txBody>
          <a:bodyPr wrap="square" lIns="108000" tIns="0" rIns="0" bIns="0" rtlCol="0" anchor="ctr"/>
          <a:lstStyle/>
          <a:p>
            <a:pPr>
              <a:lnSpc>
                <a:spcPts val="200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category, count(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item_id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 as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num_items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00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from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order_details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od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00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left join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menu_items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mi 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00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od.item_id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=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mi.menu_item_id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00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where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(440,2075, 1957, 330, 2675)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00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by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order_id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category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ts val="2000"/>
              </a:lnSpc>
            </a:pP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order by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num_items</a:t>
            </a:r>
            <a:r>
              <a:rPr lang="en-GB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desc</a:t>
            </a:r>
            <a:endParaRPr lang="en-IN" sz="1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FF604FC-EB44-9358-4BF4-9B1BDFFF6105}"/>
              </a:ext>
            </a:extLst>
          </p:cNvPr>
          <p:cNvGrpSpPr/>
          <p:nvPr/>
        </p:nvGrpSpPr>
        <p:grpSpPr>
          <a:xfrm>
            <a:off x="320040" y="621792"/>
            <a:ext cx="8503920" cy="658368"/>
            <a:chOff x="320040" y="621792"/>
            <a:chExt cx="8503920" cy="658368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15391E33-65B5-E2D3-4FD7-1785CB43E201}"/>
                </a:ext>
              </a:extLst>
            </p:cNvPr>
            <p:cNvSpPr/>
            <p:nvPr/>
          </p:nvSpPr>
          <p:spPr>
            <a:xfrm>
              <a:off x="320040" y="621792"/>
              <a:ext cx="8503920" cy="658368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5240">
              <a:noFill/>
              <a:prstDash val="solid"/>
            </a:ln>
          </p:spPr>
          <p:txBody>
            <a:bodyPr tIns="108000"/>
            <a:lstStyle/>
            <a:p>
              <a:endParaRPr lang="en-IN"/>
            </a:p>
          </p:txBody>
        </p:sp>
        <p:sp>
          <p:nvSpPr>
            <p:cNvPr id="20" name="Text 5">
              <a:extLst>
                <a:ext uri="{FF2B5EF4-FFF2-40B4-BE49-F238E27FC236}">
                  <a16:creationId xmlns:a16="http://schemas.microsoft.com/office/drawing/2014/main" id="{5F000AED-ED3B-95DC-1EDF-0A4B21E4A73C}"/>
                </a:ext>
              </a:extLst>
            </p:cNvPr>
            <p:cNvSpPr txBox="1"/>
            <p:nvPr/>
          </p:nvSpPr>
          <p:spPr>
            <a:xfrm>
              <a:off x="411480" y="667512"/>
              <a:ext cx="8321040" cy="56692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/>
          </p:spPr>
          <p:txBody>
            <a:bodyPr wrap="square" lIns="0" tIns="108000" rIns="0" bIns="0" rtlCol="0" anchor="ctr"/>
            <a:lstStyle/>
            <a:p>
              <a:r>
                <a:rPr lang="en-US" sz="1350" b="1" dirty="0">
                  <a:solidFill>
                    <a:srgbClr val="1E293B"/>
                  </a:solidFill>
                </a:rPr>
                <a:t>❓ </a:t>
              </a:r>
              <a:r>
                <a:rPr lang="en-GB" sz="1200" b="1" dirty="0">
                  <a:solidFill>
                    <a:srgbClr val="00B0F0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Q.5. View the details top 5 highest spend order. What insights can you the gather From the results?</a:t>
              </a:r>
              <a:endParaRPr lang="en-IN" sz="1200" dirty="0">
                <a:solidFill>
                  <a:srgbClr val="00B0F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  <a:p>
              <a:pPr marL="0" indent="0">
                <a:buNone/>
              </a:pPr>
              <a:endParaRPr lang="en-US" sz="1350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66614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0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20040" y="118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1B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58368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</a:rPr>
              <a:t>Customer Behavior — Key Takeaways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71600"/>
            <a:ext cx="146304" cy="6400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44475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Hamburger (American) is the single most popular menu item by order count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10312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2103120"/>
            <a:ext cx="146304" cy="6400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" y="217627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Chicken Tacos (Mexican) ranked lowest in total purchases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0040" y="283464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834640"/>
            <a:ext cx="146304" cy="6400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90779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Italian dishes dominate the top 5 highest-spend orders — pricier items drive revenue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0040" y="356616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566160"/>
            <a:ext cx="146304" cy="6400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363931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Order #440 (top spender) was heavily Italian-category — customer preference + price = high total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20040" y="4297680"/>
            <a:ext cx="8503920" cy="64008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297680"/>
            <a:ext cx="146304" cy="64008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4370832"/>
            <a:ext cx="8138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JOIN pattern: always lead with the transaction table, JOIN to the lookup table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0040" y="10058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bg2">
                    <a:lumMod val="25000"/>
                  </a:schemeClr>
                </a:solidFill>
              </a:rPr>
              <a:t>PROJECT SUMMARY</a:t>
            </a:r>
            <a:endParaRPr lang="en-US" sz="11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20040" y="603504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</a:rPr>
              <a:t>Restaurant Order Analysis — What We Discovered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2011680" cy="1389888"/>
          </a:xfrm>
          <a:prstGeom prst="rect">
            <a:avLst/>
          </a:prstGeom>
          <a:solidFill>
            <a:srgbClr val="F8FAFC"/>
          </a:solidFill>
          <a:ln w="22860">
            <a:solidFill>
              <a:srgbClr val="1D7F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1481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D7FB8"/>
                </a:solidFill>
              </a:rPr>
              <a:t>32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20665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Menu Items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across 4 categories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389888"/>
            <a:ext cx="2011680" cy="1389888"/>
          </a:xfrm>
          <a:prstGeom prst="rect">
            <a:avLst/>
          </a:prstGeom>
          <a:solidFill>
            <a:srgbClr val="F8FAFC"/>
          </a:solidFill>
          <a:ln w="22860">
            <a:solidFill>
              <a:srgbClr val="CC303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481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E05A1B"/>
                </a:solidFill>
              </a:rPr>
              <a:t>$5–$19.95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0665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Price Range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min → max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389888"/>
            <a:ext cx="2011680" cy="1389888"/>
          </a:xfrm>
          <a:prstGeom prst="rect">
            <a:avLst/>
          </a:prstGeom>
          <a:solidFill>
            <a:srgbClr val="F8FAFC"/>
          </a:solidFill>
          <a:ln w="2286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1481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6A34A"/>
                </a:solidFill>
              </a:rPr>
              <a:t>5,370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20665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unique order IDs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1389888"/>
            <a:ext cx="2011680" cy="1389888"/>
          </a:xfrm>
          <a:prstGeom prst="rect">
            <a:avLst/>
          </a:prstGeom>
          <a:solidFill>
            <a:srgbClr val="F8FAFC"/>
          </a:solidFill>
          <a:ln w="22860">
            <a:solidFill>
              <a:srgbClr val="CC303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0" y="14813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D97706"/>
                </a:solidFill>
              </a:rPr>
              <a:t>12,234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0665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</a:rPr>
              <a:t>Items Ordered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2395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total line items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26080"/>
            <a:ext cx="85039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29900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Most Ordered Item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3749040" y="29900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A34A"/>
                </a:solidFill>
              </a:rPr>
              <a:t>Hamburger (American)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3319272"/>
            <a:ext cx="85039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38328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Least Ordered Item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3749040" y="33832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1B"/>
                </a:solidFill>
              </a:rPr>
              <a:t>Chicken Tacos (Mexican)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712464"/>
            <a:ext cx="85039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377647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Highest Spend Order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749040" y="377647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7FB8"/>
                </a:solidFill>
              </a:rPr>
              <a:t>Order #440 — Italian-heavy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105656"/>
            <a:ext cx="85039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41696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Avg Italian Price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749040" y="416966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$16.75 (most expensive category)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0040" y="4498848"/>
            <a:ext cx="8503920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45628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Orders &gt; 12 Items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749040" y="456285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20 orders placed with 12+ items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" cy="514350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Shape 1"/>
          <p:cNvSpPr/>
          <p:nvPr/>
        </p:nvSpPr>
        <p:spPr>
          <a:xfrm>
            <a:off x="384048" y="0"/>
            <a:ext cx="8759952" cy="73152"/>
          </a:xfrm>
          <a:prstGeom prst="rect">
            <a:avLst/>
          </a:prstGeom>
          <a:solidFill>
            <a:srgbClr val="1D7FB8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914400"/>
            <a:ext cx="3474720" cy="3474720"/>
          </a:xfrm>
          <a:prstGeom prst="ellipse">
            <a:avLst/>
          </a:prstGeom>
          <a:solidFill>
            <a:srgbClr val="E05A1B">
              <a:alpha val="7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17920" y="1371600"/>
            <a:ext cx="2377440" cy="2377440"/>
          </a:xfrm>
          <a:prstGeom prst="ellipse">
            <a:avLst/>
          </a:prstGeom>
          <a:solidFill>
            <a:srgbClr val="1D7FB8">
              <a:alpha val="1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93B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14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D7FB8"/>
                </a:solidFill>
              </a:rPr>
              <a:t>Restaurant Order Data Analysis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358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Built with MySQL · 3 Objectives · 16 SQL Queries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48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github.com/Wasim-</a:t>
            </a:r>
            <a:r>
              <a:rPr lang="en-US" sz="115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wr</a:t>
            </a:r>
            <a:r>
              <a:rPr lang="en-US" sz="11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/restaurant-data-analysis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1641</Words>
  <Application>Microsoft Office PowerPoint</Application>
  <PresentationFormat>On-screen Show (16:9)</PresentationFormat>
  <Paragraphs>275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Was</cp:lastModifiedBy>
  <cp:revision>25</cp:revision>
  <dcterms:created xsi:type="dcterms:W3CDTF">2026-09-28T09:19:20Z</dcterms:created>
  <dcterms:modified xsi:type="dcterms:W3CDTF">2026-09-28T17:10:50Z</dcterms:modified>
</cp:coreProperties>
</file>